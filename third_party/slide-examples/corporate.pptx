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</p:sldIdLst>
  <p:sldSz cx="9144000" cy="5143500" type="screen16x9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Master" Type="http://schemas.openxmlformats.org/officeDocument/2006/relationships/slideMaster" Target="slideMasters/slideMaster1.xml"/><Relationship Id="rIdTheme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Corporate — a sample deck authored for edot slides. CC0 1.0 / public domain dedication (see third_party/slide-examples/LICENSE). Doubles as an import-fidelity test fixture.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contact details and next review date.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14400" y="1748790"/>
            <a:ext cx="7315200" cy="925830"/>
          </a:xfrm>
        </p:spPr>
        <p:txBody>
          <a:bodyPr/>
          <a:lstStyle/>
          <a:p>
            <a:pPr>
              <a:buNone/>
            </a:pPr>
            <a:r>
              <a:rPr lang="en-US"/>
              <a:t>Quarterly Business Review</a:t>
            </a:r>
          </a:p>
        </p:txBody>
      </p:sp>
      <p:sp>
        <p:nvSpPr>
          <p:cNvPr id="3" name="subtitle"/>
          <p:cNvSpPr>
            <a:spLocks noGrp="1"/>
          </p:cNvSpPr>
          <p:nvPr>
            <p:ph/>
          </p:nvPr>
        </p:nvSpPr>
        <p:spPr>
          <a:xfrm>
            <a:off x="914400" y="2777490"/>
            <a:ext cx="7315200" cy="617220"/>
          </a:xfrm>
        </p:spPr>
        <p:txBody>
          <a:bodyPr/>
          <a:lstStyle/>
          <a:p>
            <a:pPr>
              <a:buNone/>
            </a:pPr>
            <a:r>
              <a:rPr lang="en-US"/>
              <a:t>Acme Corporation — Q3 FY26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Agenda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Executive summary</a:t>
            </a:r>
          </a:p>
          <a:p>
            <a:pPr/>
            <a:r>
              <a:rPr lang="en-US"/>
              <a:t>Financial highlights</a:t>
            </a:r>
          </a:p>
          <a:p>
            <a:pPr/>
            <a:r>
              <a:rPr lang="en-US"/>
              <a:t>Operational metrics</a:t>
            </a:r>
          </a:p>
          <a:p>
            <a:pPr/>
            <a:r>
              <a:rPr lang="en-US"/>
              <a:t>Strategic initiatives</a:t>
            </a:r>
          </a:p>
          <a:p>
            <a:pPr/>
            <a:r>
              <a:rPr lang="en-US"/>
              <a:t>Q&amp;A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Executive Summary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 b="1"/>
              <a:t>Revenue grew 12% year over year</a:t>
            </a:r>
          </a:p>
          <a:p>
            <a:pPr lvl="1"/>
            <a:r>
              <a:rPr lang="en-US"/>
              <a:t>Driven by enterprise segment expansion</a:t>
            </a:r>
          </a:p>
          <a:p>
            <a:pPr lvl="1"/>
            <a:r>
              <a:rPr lang="en-US"/>
              <a:t>And improved customer retention</a:t>
            </a:r>
          </a:p>
          <a:p>
            <a:pPr/>
            <a:r>
              <a:rPr lang="en-US"/>
              <a:t>Operating margin held steady at 18%</a:t>
            </a:r>
          </a:p>
          <a:p>
            <a:pPr/>
            <a:r>
              <a:rPr lang="en-US"/>
              <a:t>Headcount up 4% with focus on engineering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720090"/>
          </a:xfrm>
        </p:spPr>
        <p:txBody>
          <a:bodyPr/>
          <a:lstStyle/>
          <a:p>
            <a:pPr>
              <a:buNone/>
            </a:pPr>
            <a:r>
              <a:rPr lang="en-US"/>
              <a:t>Strengths vs. Risks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234440"/>
            <a:ext cx="3931920" cy="3497580"/>
          </a:xfrm>
        </p:spPr>
        <p:txBody>
          <a:bodyPr/>
          <a:lstStyle/>
          <a:p>
            <a:pPr/>
            <a:r>
              <a:rPr lang="en-US" b="1"/>
              <a:t>Strengths</a:t>
            </a:r>
          </a:p>
          <a:p>
            <a:pPr/>
            <a:r>
              <a:rPr lang="en-US"/>
              <a:t>Strong recurring revenue base</a:t>
            </a:r>
          </a:p>
          <a:p>
            <a:pPr/>
            <a:r>
              <a:rPr lang="en-US"/>
              <a:t>Healthy pipeline coverage</a:t>
            </a:r>
          </a:p>
          <a:p>
            <a:pPr/>
            <a:r>
              <a:rPr lang="en-US"/>
              <a:t>Low customer concentration</a:t>
            </a:r>
          </a:p>
        </p:txBody>
      </p:sp>
      <p:sp>
        <p:nvSpPr>
          <p:cNvPr id="4" name="body2"/>
          <p:cNvSpPr>
            <a:spLocks noGrp="1"/>
          </p:cNvSpPr>
          <p:nvPr>
            <p:ph/>
          </p:nvPr>
        </p:nvSpPr>
        <p:spPr>
          <a:xfrm>
            <a:off x="4663440" y="1234440"/>
            <a:ext cx="3931920" cy="3497580"/>
          </a:xfrm>
        </p:spPr>
        <p:txBody>
          <a:bodyPr/>
          <a:lstStyle/>
          <a:p>
            <a:pPr/>
            <a:r>
              <a:rPr lang="en-US" b="1"/>
              <a:t>Risks</a:t>
            </a:r>
          </a:p>
          <a:p>
            <a:pPr/>
            <a:r>
              <a:rPr lang="en-US"/>
              <a:t>FX headwinds in EMEA</a:t>
            </a:r>
          </a:p>
          <a:p>
            <a:pPr/>
            <a:r>
              <a:rPr lang="en-US"/>
              <a:t>Hiring competition for senior roles</a:t>
            </a:r>
          </a:p>
          <a:p>
            <a:pPr/>
            <a:r>
              <a:rPr lang="en-US"/>
              <a:t>Supply lead-time variability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60270"/>
            <a:ext cx="7680960" cy="925830"/>
          </a:xfrm>
        </p:spPr>
        <p:txBody>
          <a:bodyPr/>
          <a:lstStyle/>
          <a:p>
            <a:pPr>
              <a:buNone/>
            </a:pPr>
            <a:r>
              <a:rPr lang="en-US"/>
              <a:t>Thank you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edot">
  <a:themeElements>
    <a:clrScheme name="edot">
      <a:dk1>
        <a:sysClr val="windowText" lastClr="000000"/>
      </a:dk1>
      <a:lt1>
        <a:sysClr val="window" lastClr="FFFFFF"/>
      </a:lt1>
      <a:dk2>
        <a:srgbClr val="111111"/>
      </a:dk2>
      <a:lt2>
        <a:srgbClr val="FAFAFA"/>
      </a:lt2>
      <a:accent1>
        <a:srgbClr val="1A73E8"/>
      </a:accent1>
      <a:accent2>
        <a:srgbClr val="1A73E8"/>
      </a:accent2>
      <a:accent3>
        <a:srgbClr val="1A73E8"/>
      </a:accent3>
      <a:accent4>
        <a:srgbClr val="1A73E8"/>
      </a:accent4>
      <a:accent5>
        <a:srgbClr val="1A73E8"/>
      </a:accent5>
      <a:accent6>
        <a:srgbClr val="1A73E8"/>
      </a:accent6>
      <a:hlink>
        <a:srgbClr val="0563C1"/>
      </a:hlink>
      <a:folHlink>
        <a:srgbClr val="954F72"/>
      </a:folHlink>
    </a:clrScheme>
    <a:fontScheme name="edo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edo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