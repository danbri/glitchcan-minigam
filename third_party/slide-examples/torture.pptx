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Torture — a sample deck authored for edot slides. CC0 1.0 / public domain dedication (see third_party/slide-examples/LICENSE). Doubles as an import-fidelity test fixture.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intentionally empty.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has only an image, no text.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14400" y="1748790"/>
            <a:ext cx="7315200" cy="925830"/>
          </a:xfrm>
        </p:spPr>
        <p:txBody>
          <a:bodyPr/>
          <a:lstStyle/>
          <a:p>
            <a:pPr>
              <a:buNone/>
            </a:pPr>
            <a:r>
              <a:rPr lang="en-US"/>
              <a:t>Torture Test 🔥</a:t>
            </a:r>
          </a:p>
        </p:txBody>
      </p:sp>
      <p:sp>
        <p:nvSpPr>
          <p:cNvPr id="3" name="subtitle"/>
          <p:cNvSpPr>
            <a:spLocks noGrp="1"/>
          </p:cNvSpPr>
          <p:nvPr>
            <p:ph/>
          </p:nvPr>
        </p:nvSpPr>
        <p:spPr>
          <a:xfrm>
            <a:off x="914400" y="2777490"/>
            <a:ext cx="7315200" cy="617220"/>
          </a:xfrm>
        </p:spPr>
        <p:txBody>
          <a:bodyPr/>
          <a:lstStyle/>
          <a:p>
            <a:pPr>
              <a:buNone/>
            </a:pPr>
            <a:r>
              <a:rPr lang="en-US"/>
              <a:t>edge cases &amp; navigation stress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Very long bullets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This is a deliberately very long bullet point intended to overflow the body text box and test wrapping, clipping, and layout robustness when an author pastes a whole paragraph into a single bullet instead of breaking it into digestible lines, which of course never happens in real presentations.</a:t>
            </a:r>
          </a:p>
          <a:p>
            <a:pPr/>
            <a:r>
              <a:rPr lang="en-US"/>
              <a:t>This is a deliberately very long bullet point intended to overflow the body text box and test wrapping, clipping, and layout robustness when an author pastes a whole paragraph into a single bullet instead of breaking it into digestible lines, which of course never happens in real presentations. This is a deliberately very long bullet point intended to overflow the body text box and test wrapping, clipping, and layout robustness when an author pastes a whole paragraph into a single bullet instead of breaking it into digestible lines, which of course never happens in real presentations.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Five indent levels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Level 0</a:t>
            </a:r>
          </a:p>
          <a:p>
            <a:pPr lvl="1"/>
            <a:r>
              <a:rPr lang="en-US"/>
              <a:t>Level 1</a:t>
            </a:r>
          </a:p>
          <a:p>
            <a:pPr lvl="2"/>
            <a:r>
              <a:rPr lang="en-US"/>
              <a:t>Level 2</a:t>
            </a:r>
          </a:p>
          <a:p>
            <a:pPr lvl="3"/>
            <a:r>
              <a:rPr lang="en-US"/>
              <a:t>Level 3</a:t>
            </a:r>
          </a:p>
          <a:p>
            <a:pPr lvl="4"/>
            <a:r>
              <a:rPr lang="en-US"/>
              <a:t>Level 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Special characters &amp; emoji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XML-hostile: &lt; &gt; &amp; " ' &lt;/a:t&gt; &lt;script&gt;</a:t>
            </a:r>
          </a:p>
          <a:p>
            <a:pPr/>
            <a:r>
              <a:rPr lang="en-US"/>
              <a:t>Emoji: 🐥🔥🎉🦄🌍🧪✅❌📊🚀</a:t>
            </a:r>
          </a:p>
          <a:p>
            <a:pPr/>
            <a:r>
              <a:rPr lang="en-US"/>
              <a:t>Combining/marks: café · naïve · Zürich · señor</a:t>
            </a:r>
          </a:p>
          <a:p>
            <a:pPr/>
            <a:r>
              <a:rPr lang="en-US"/>
              <a:t>Whitespace   gaps   and	tabs	preserved</a:t>
            </a:r>
          </a:p>
          <a:p>
            <a:pPr/>
            <a:r>
              <a:rPr lang="en-US"/>
              <a:t>Zero-width &amp; quotes: “smart” ‘quotes’ — em–dash 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-only slide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1028700"/>
            <a:ext cx="4572000" cy="30861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Bold + italic mix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Plain line</a:t>
            </a:r>
          </a:p>
          <a:p>
            <a:pPr/>
            <a:r>
              <a:rPr lang="en-US" b="1"/>
              <a:t>Bold line</a:t>
            </a:r>
          </a:p>
          <a:p>
            <a:pPr/>
            <a:r>
              <a:rPr lang="en-US" i="1"/>
              <a:t>Italic line</a:t>
            </a:r>
          </a:p>
          <a:p>
            <a:pPr/>
            <a:r>
              <a:rPr lang="en-US" b="1" i="1"/>
              <a:t>Bold AND italic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720090"/>
          </a:xfrm>
        </p:spPr>
        <p:txBody>
          <a:bodyPr/>
          <a:lstStyle/>
          <a:p>
            <a:pPr>
              <a:buNone/>
            </a:pPr>
            <a:r>
              <a:rPr lang="en-US"/>
              <a:t>Two columns, uneven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234440"/>
            <a:ext cx="3931920" cy="3497580"/>
          </a:xfrm>
        </p:spPr>
        <p:txBody>
          <a:bodyPr/>
          <a:lstStyle/>
          <a:p>
            <a:pPr/>
            <a:r>
              <a:rPr lang="en-US"/>
              <a:t>Just one point on the left.</a:t>
            </a:r>
          </a:p>
        </p:txBody>
      </p:sp>
      <p:sp>
        <p:nvSpPr>
          <p:cNvPr id="4" name="body2"/>
          <p:cNvSpPr>
            <a:spLocks noGrp="1"/>
          </p:cNvSpPr>
          <p:nvPr>
            <p:ph/>
          </p:nvPr>
        </p:nvSpPr>
        <p:spPr>
          <a:xfrm>
            <a:off x="4663440" y="1234440"/>
            <a:ext cx="3931920" cy="3497580"/>
          </a:xfrm>
        </p:spPr>
        <p:txBody>
          <a:bodyPr/>
          <a:lstStyle/>
          <a:p>
            <a:pPr/>
            <a:r>
              <a:rPr lang="en-US"/>
              <a:t>Many</a:t>
            </a:r>
          </a:p>
          <a:p>
            <a:pPr/>
            <a:r>
              <a:rPr lang="en-US"/>
              <a:t>points</a:t>
            </a:r>
          </a:p>
          <a:p>
            <a:pPr/>
            <a:r>
              <a:rPr lang="en-US"/>
              <a:t>on</a:t>
            </a:r>
          </a:p>
          <a:p>
            <a:pPr/>
            <a:r>
              <a:rPr lang="en-US"/>
              <a:t>the</a:t>
            </a:r>
          </a:p>
          <a:p>
            <a:pPr/>
            <a:r>
              <a:rPr lang="en-US"/>
              <a:t>right</a:t>
            </a:r>
          </a:p>
          <a:p>
            <a:pPr/>
            <a:r>
              <a:rPr lang="en-US"/>
              <a:t>side</a:t>
            </a:r>
          </a:p>
          <a:p>
            <a:pPr/>
            <a:r>
              <a:rPr lang="en-US"/>
              <a:t>here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60270"/>
            <a:ext cx="7680960" cy="925830"/>
          </a:xfrm>
        </p:spPr>
        <p:txBody>
          <a:bodyPr/>
          <a:lstStyle/>
          <a:p>
            <a:pPr>
              <a:buNone/>
            </a:pPr>
            <a:r>
              <a:rPr lang="en-US"/>
              <a:t>— Section break —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10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10.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11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11.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12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12.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13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13.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14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14.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15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15.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Filler slide 16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Navigation stress slide number 16.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dot">
  <a:themeElements>
    <a:clrScheme name="edot">
      <a:dk1>
        <a:sysClr val="windowText" lastClr="000000"/>
      </a:dk1>
      <a:lt1>
        <a:sysClr val="window" lastClr="FFFFFF"/>
      </a:lt1>
      <a:dk2>
        <a:srgbClr val="F0F0F2"/>
      </a:dk2>
      <a:lt2>
        <a:srgbClr val="13151C"/>
      </a:lt2>
      <a:accent1>
        <a:srgbClr val="7AA2FF"/>
      </a:accent1>
      <a:accent2>
        <a:srgbClr val="7AA2FF"/>
      </a:accent2>
      <a:accent3>
        <a:srgbClr val="7AA2FF"/>
      </a:accent3>
      <a:accent4>
        <a:srgbClr val="7AA2FF"/>
      </a:accent4>
      <a:accent5>
        <a:srgbClr val="7AA2FF"/>
      </a:accent5>
      <a:accent6>
        <a:srgbClr val="7AA2FF"/>
      </a:accent6>
      <a:hlink>
        <a:srgbClr val="0563C1"/>
      </a:hlink>
      <a:folHlink>
        <a:srgbClr val="954F72"/>
      </a:folHlink>
    </a:clrScheme>
    <a:fontScheme name="edo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ed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