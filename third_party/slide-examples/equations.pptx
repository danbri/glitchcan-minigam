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9144000" cy="5143500" type="screen16x9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Master" Type="http://schemas.openxmlformats.org/officeDocument/2006/relationships/slideMaster" Target="slideMasters/slideMaster1.xml"/><Relationship Id="rIdTheme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Equations — a sample deck authored for edot slides. CC0 1.0 / public domain dedication (see third_party/slide-examples/LICENSE). Doubles as an import-fidelity test fixture.</a:t>
            </a:r>
          </a:p>
          <a:p>
            <a:r>
              <a:rPr lang="en-US"/>
              <a:t/>
            </a:r>
          </a:p>
          <a:p>
            <a:r>
              <a:rPr lang="en-US"/>
              <a:t>NOTE ON FIDELITY: real PowerPoint equations use OMML (Office Math Markup Language) inside a:txBody. The edot PPTX exporter does NOT emit OMML — it has no math run support. This deck therefore represents every formula as plain Unicode text (∑ ∫ √ ∂ ∇, Greek letters, super/subscripts, unicode fractions), which round-trips losslessly as text but will not become a native equation object in PowerPoint.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14400" y="1748790"/>
            <a:ext cx="7315200" cy="925830"/>
          </a:xfrm>
        </p:spPr>
        <p:txBody>
          <a:bodyPr/>
          <a:lstStyle/>
          <a:p>
            <a:pPr>
              <a:buNone/>
            </a:pPr>
            <a:r>
              <a:rPr lang="en-US"/>
              <a:t>A Tour of Famous Equations</a:t>
            </a:r>
          </a:p>
        </p:txBody>
      </p:sp>
      <p:sp>
        <p:nvSpPr>
          <p:cNvPr id="3" name="subtitle"/>
          <p:cNvSpPr>
            <a:spLocks noGrp="1"/>
          </p:cNvSpPr>
          <p:nvPr>
            <p:ph/>
          </p:nvPr>
        </p:nvSpPr>
        <p:spPr>
          <a:xfrm>
            <a:off x="914400" y="2777490"/>
            <a:ext cx="7315200" cy="617220"/>
          </a:xfrm>
        </p:spPr>
        <p:txBody>
          <a:bodyPr/>
          <a:lstStyle/>
          <a:p>
            <a:pPr>
              <a:buNone/>
            </a:pPr>
            <a:r>
              <a:rPr lang="en-US"/>
              <a:t>rendered as Unicode mathematics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Euler’s identity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 b="1"/>
              <a:t>e^(iπ) + 1 = 0</a:t>
            </a:r>
          </a:p>
          <a:p>
            <a:pPr lvl="1"/>
            <a:r>
              <a:rPr lang="en-US" i="1"/>
              <a:t>relating e, i, π, 1 and 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Mass–energy equivalence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 b="1"/>
              <a:t>E = mc²</a:t>
            </a:r>
          </a:p>
          <a:p>
            <a:pPr lvl="1"/>
            <a:r>
              <a:rPr lang="en-US"/>
              <a:t>E = energy, m = mass, c = speed of light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The Gaussian integral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 b="1"/>
              <a:t>∫₋∞^∞ e^(−x²) dx = √π</a:t>
            </a:r>
          </a:p>
          <a:p>
            <a:pPr lvl="1"/>
            <a:r>
              <a:rPr lang="en-US"/>
              <a:t>a definite integral over the whole real line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Maxwell — Gauss’s law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 b="1"/>
              <a:t>∇ · E = ρ / ε₀</a:t>
            </a:r>
          </a:p>
          <a:p>
            <a:pPr lvl="1"/>
            <a:r>
              <a:rPr lang="en-US"/>
              <a:t>divergence of the electric field</a:t>
            </a:r>
          </a:p>
          <a:p>
            <a:pPr/>
            <a:r>
              <a:rPr lang="en-US" b="1"/>
              <a:t>∇ × B − μ₀ε₀ ∂E/∂t = μ₀J</a:t>
            </a:r>
          </a:p>
          <a:p>
            <a:pPr lvl="1"/>
            <a:r>
              <a:rPr lang="en-US"/>
              <a:t>Ampère’s law with Maxwell’s correction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08610"/>
            <a:ext cx="8046720" cy="822960"/>
          </a:xfrm>
        </p:spPr>
        <p:txBody>
          <a:bodyPr/>
          <a:lstStyle/>
          <a:p>
            <a:pPr>
              <a:buNone/>
            </a:pPr>
            <a:r>
              <a:rPr lang="en-US"/>
              <a:t>The basics, in symbols</a:t>
            </a:r>
          </a:p>
        </p:txBody>
      </p:sp>
      <p:sp>
        <p:nvSpPr>
          <p:cNvPr id="3" name="body"/>
          <p:cNvSpPr>
            <a:spLocks noGrp="1"/>
          </p:cNvSpPr>
          <p:nvPr>
            <p:ph/>
          </p:nvPr>
        </p:nvSpPr>
        <p:spPr>
          <a:xfrm>
            <a:off x="548640" y="1337310"/>
            <a:ext cx="8046720" cy="3394710"/>
          </a:xfrm>
        </p:spPr>
        <p:txBody>
          <a:bodyPr/>
          <a:lstStyle/>
          <a:p>
            <a:pPr/>
            <a:r>
              <a:rPr lang="en-US"/>
              <a:t>Summation:  ∑ᵢ₌₁ⁿ i = n(n+1) / 2</a:t>
            </a:r>
          </a:p>
          <a:p>
            <a:pPr/>
            <a:r>
              <a:rPr lang="en-US"/>
              <a:t>Limit:  lim_(x→0) (sin x) / x = 1</a:t>
            </a:r>
          </a:p>
          <a:p>
            <a:pPr/>
            <a:r>
              <a:rPr lang="en-US"/>
              <a:t>Fraction (unicode):  ½ + ⅓ + ¼ = 13⁄12</a:t>
            </a:r>
          </a:p>
          <a:p>
            <a:pPr/>
            <a:r>
              <a:rPr lang="en-US"/>
              <a:t>Greek:  α β γ δ θ λ μ π σ φ ω  Δ Σ Ω ∂ ∇ ∞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edot">
  <a:themeElements>
    <a:clrScheme name="edot">
      <a:dk1>
        <a:sysClr val="windowText" lastClr="000000"/>
      </a:dk1>
      <a:lt1>
        <a:sysClr val="window" lastClr="FFFFFF"/>
      </a:lt1>
      <a:dk2>
        <a:srgbClr val="2A2620"/>
      </a:dk2>
      <a:lt2>
        <a:srgbClr val="F4F1EA"/>
      </a:lt2>
      <a:accent1>
        <a:srgbClr val="B5651D"/>
      </a:accent1>
      <a:accent2>
        <a:srgbClr val="B5651D"/>
      </a:accent2>
      <a:accent3>
        <a:srgbClr val="B5651D"/>
      </a:accent3>
      <a:accent4>
        <a:srgbClr val="B5651D"/>
      </a:accent4>
      <a:accent5>
        <a:srgbClr val="B5651D"/>
      </a:accent5>
      <a:accent6>
        <a:srgbClr val="B5651D"/>
      </a:accent6>
      <a:hlink>
        <a:srgbClr val="0563C1"/>
      </a:hlink>
      <a:folHlink>
        <a:srgbClr val="954F72"/>
      </a:folHlink>
    </a:clrScheme>
    <a:fontScheme name="edo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ed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